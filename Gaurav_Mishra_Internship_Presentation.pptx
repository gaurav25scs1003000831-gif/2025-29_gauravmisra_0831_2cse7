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857794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874519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Poppins"/>
              </a:rPr>
              <a:t>INTERNSHIP
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25880"/>
            <a:ext cx="79552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Poppins"/>
              </a:rPr>
              <a:t>Professionalism &amp; Power Skills
Job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3063240"/>
            <a:ext cx="6858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B3239"/>
                </a:solidFill>
                <a:latin typeface="Inter"/>
              </a:defRPr>
            </a:pPr>
            <a:r>
              <a:t>Gaurav Mishra</a:t>
            </a:r>
          </a:p>
          <a:p>
            <a:pPr>
              <a:spcAft>
                <a:spcPts val="500"/>
              </a:spcAft>
              <a:defRPr sz="1300" b="0">
                <a:solidFill>
                  <a:srgbClr val="2B3239"/>
                </a:solidFill>
                <a:latin typeface="Inter"/>
              </a:defRPr>
            </a:pPr>
            <a:r>
              <a:t>Roll No.: 25SCS1003000831</a:t>
            </a:r>
          </a:p>
          <a:p>
            <a:pPr>
              <a:spcAft>
                <a:spcPts val="500"/>
              </a:spcAft>
              <a:defRPr sz="1300" b="0">
                <a:solidFill>
                  <a:srgbClr val="2B3239"/>
                </a:solidFill>
                <a:latin typeface="Inter"/>
              </a:defRPr>
            </a:pPr>
            <a:r>
              <a:t>B.Tech (CSE) | Batch 2025–2029</a:t>
            </a:r>
          </a:p>
          <a:p>
            <a:pPr>
              <a:spcAft>
                <a:spcPts val="500"/>
              </a:spcAft>
              <a:defRPr sz="1300" b="0">
                <a:solidFill>
                  <a:srgbClr val="2B3239"/>
                </a:solidFill>
                <a:latin typeface="Inter"/>
              </a:defRPr>
            </a:pPr>
            <a:r>
              <a:t>School of Computer Science and Engineering</a:t>
            </a:r>
          </a:p>
          <a:p>
            <a:pPr>
              <a:spcAft>
                <a:spcPts val="500"/>
              </a:spcAft>
              <a:defRPr sz="1300" b="0">
                <a:solidFill>
                  <a:srgbClr val="2B3239"/>
                </a:solidFill>
                <a:latin typeface="Inter"/>
              </a:defRPr>
            </a:pPr>
            <a:r>
              <a:t>IILM University,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Candidate &amp; Activity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Gaurav Mishra | Roll No. 25SCS1003000831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105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Academic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04288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B.Tech (CSE) | Batch 2025–2029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1208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07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01568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Professionalism &amp; Power Skills Job Simulation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43200"/>
            <a:ext cx="521208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07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01568"/>
            <a:ext cx="4846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September 9,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652760" cy="100584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05072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Verified task 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98848"/>
            <a:ext cx="1028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First impressions and communication • Teamwork and problem solving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Certificate-Supported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The uploaded certificate identifies the activity as a Forage Professionalism &amp; Power Skills Job Simulation.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It records practical tasks in first impressions and communication.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It records practical tasks in teamwork and problem solving.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The certificate does not state an employer department, technical stack, live project, or production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Why These Skills Matter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First impressions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Professional introductions, confidence, appropriate tone and attentive listening.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0428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Clear purpose, concise wording, respectful language and active listening.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64592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8105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Teamwork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30428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Shared goals, coordination, reliability and task ownership.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2888" y="3886200"/>
            <a:ext cx="347472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4050791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Problem solving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454456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Define the issue, consider options and choose a constructive next step.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347472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50791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Reflection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4456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Review performance and convert feedback into a specific improvement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Project 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Project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48463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Professional Workplace Communication and Team Problem-Solving Simulation
An academic representation of the verified learning areas in the certificate.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105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04288"/>
            <a:ext cx="48463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Scenario → skill identification → response planning → communication → collaboration/problem solving → reflection → improvement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Problem Statement &amp; 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48463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Students may know communication and teamwork concepts but lack a repeatable method for applying them in realistic situations.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105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04288"/>
            <a:ext cx="48463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Use a six-stage scenario workflow that makes professional behaviour observable, explainable and reviewable.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Turn professional-skills concepts into observable actions.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Provide a consistent process for communication and teamwork scenarios.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Apply structured problem solving to workplace-style situations.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Use reflection to identify strengths and improvement areas.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Build confidence for academic teamwork and an initial professional role.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Project Architecture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10835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Methodology / Workflow</a:t>
            </a:r>
          </a:p>
        </p:txBody>
      </p:sp>
      <p:pic>
        <p:nvPicPr>
          <p:cNvPr id="6" name="Picture 5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1097280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707A"/>
                </a:solidFill>
                <a:latin typeface="Inter"/>
              </a:defRPr>
            </a:pPr>
            <a:r>
              <a:t>The cycle can be repeated with new scenarios to build consistency and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Major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057400" cy="256032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691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First Impressions
Practical scenario-based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2057400" cy="256032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99339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87168"/>
            <a:ext cx="1691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Communication
Practical scenario-based 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828800"/>
            <a:ext cx="2057400" cy="256032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99339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487168"/>
            <a:ext cx="1691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Teamwork
Practical scenario-based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28800"/>
            <a:ext cx="2057400" cy="256032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99339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487168"/>
            <a:ext cx="1691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Problem Solving
Practical scenario-based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828800"/>
            <a:ext cx="2057400" cy="256032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99339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487168"/>
            <a:ext cx="1691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Reflection
Practical scenario-based application.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4709160"/>
            <a:ext cx="6400800" cy="82296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4873752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Integrated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367528"/>
            <a:ext cx="60350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Professional response + constructive collaboration + actionable reflection.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Implementation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554480"/>
            <a:ext cx="8321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700">
                <a:solidFill>
                  <a:srgbClr val="1F4E79"/>
                </a:solidFill>
                <a:latin typeface="Courier New"/>
              </a:defRPr>
            </a:pPr>
            <a:r>
              <a:t>START</a:t>
            </a:r>
          </a:p>
          <a:p>
            <a:pPr algn="l">
              <a:spcAft>
                <a:spcPts val="600"/>
              </a:spcAft>
              <a:defRPr sz="1700">
                <a:solidFill>
                  <a:srgbClr val="2B3239"/>
                </a:solidFill>
                <a:latin typeface="Courier New"/>
              </a:defRPr>
            </a:pPr>
            <a:r>
              <a:t>Receive workplace scenario</a:t>
            </a:r>
          </a:p>
          <a:p>
            <a:pPr algn="l">
              <a:spcAft>
                <a:spcPts val="600"/>
              </a:spcAft>
              <a:defRPr sz="1700">
                <a:solidFill>
                  <a:srgbClr val="2B3239"/>
                </a:solidFill>
                <a:latin typeface="Courier New"/>
              </a:defRPr>
            </a:pPr>
            <a:r>
              <a:t>Identify objective and stakeholders</a:t>
            </a:r>
          </a:p>
          <a:p>
            <a:pPr algn="l">
              <a:spcAft>
                <a:spcPts val="600"/>
              </a:spcAft>
              <a:defRPr sz="1700">
                <a:solidFill>
                  <a:srgbClr val="2B3239"/>
                </a:solidFill>
                <a:latin typeface="Courier New"/>
              </a:defRPr>
            </a:pPr>
            <a:r>
              <a:t>Select relevant skill</a:t>
            </a:r>
          </a:p>
          <a:p>
            <a:pPr algn="l">
              <a:spcAft>
                <a:spcPts val="600"/>
              </a:spcAft>
              <a:defRPr sz="1700">
                <a:solidFill>
                  <a:srgbClr val="2B3239"/>
                </a:solidFill>
                <a:latin typeface="Courier New"/>
              </a:defRPr>
            </a:pPr>
            <a:r>
              <a:t>Plan and communicate response</a:t>
            </a:r>
          </a:p>
          <a:p>
            <a:pPr algn="l">
              <a:spcAft>
                <a:spcPts val="600"/>
              </a:spcAft>
              <a:defRPr sz="1700">
                <a:solidFill>
                  <a:srgbClr val="2B3239"/>
                </a:solidFill>
                <a:latin typeface="Courier New"/>
              </a:defRPr>
            </a:pPr>
            <a:r>
              <a:t>Collaborate / solve</a:t>
            </a:r>
          </a:p>
          <a:p>
            <a:pPr algn="l">
              <a:spcAft>
                <a:spcPts val="600"/>
              </a:spcAft>
              <a:defRPr sz="1700">
                <a:solidFill>
                  <a:srgbClr val="2B3239"/>
                </a:solidFill>
                <a:latin typeface="Courier New"/>
              </a:defRPr>
            </a:pPr>
            <a:r>
              <a:t>Review outcome and feedback</a:t>
            </a:r>
          </a:p>
          <a:p>
            <a:pPr algn="l">
              <a:spcAft>
                <a:spcPts val="600"/>
              </a:spcAft>
              <a:defRPr sz="1700">
                <a:solidFill>
                  <a:srgbClr val="2B3239"/>
                </a:solidFill>
                <a:latin typeface="Courier New"/>
              </a:defRPr>
            </a:pPr>
            <a:r>
              <a:t>Record improvement action</a:t>
            </a:r>
          </a:p>
          <a:p>
            <a:pPr algn="l">
              <a:spcAft>
                <a:spcPts val="600"/>
              </a:spcAft>
              <a:defRPr sz="1700">
                <a:solidFill>
                  <a:srgbClr val="1F4E79"/>
                </a:solidFill>
                <a:latin typeface="Courier New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Testing &amp;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38328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Scenario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12848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Five review cases were defined: first impression, communication, teamwork, problem solving and reflection.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Evaluation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Clarity • Respect • Cooperation • Ownership • Logic • Actionability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19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The framework is suitable for repeated practice and aligns with the two task areas explicitly recorded on the certificate.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239"/>
                </a:solidFill>
                <a:latin typeface="Inter"/>
              </a:defRPr>
            </a:pPr>
            <a:r>
              <a:t>• Unclear situation → clarify the objective before responding.</a:t>
            </a:r>
          </a:p>
          <a:p>
            <a:pPr>
              <a:spcAft>
                <a:spcPts val="1000"/>
              </a:spcAft>
              <a:defRPr sz="1700">
                <a:solidFill>
                  <a:srgbClr val="2B3239"/>
                </a:solidFill>
                <a:latin typeface="Inter"/>
              </a:defRPr>
            </a:pPr>
            <a:r>
              <a:t>• Professional tone → use neutral, respectful and concise language.</a:t>
            </a:r>
          </a:p>
          <a:p>
            <a:pPr>
              <a:spcAft>
                <a:spcPts val="1000"/>
              </a:spcAft>
              <a:defRPr sz="1700">
                <a:solidFill>
                  <a:srgbClr val="2B3239"/>
                </a:solidFill>
                <a:latin typeface="Inter"/>
              </a:defRPr>
            </a:pPr>
            <a:r>
              <a:t>• Competing team priorities → focus on the shared goal and take ownership of a realistic task.</a:t>
            </a:r>
          </a:p>
          <a:p>
            <a:pPr>
              <a:spcAft>
                <a:spcPts val="1000"/>
              </a:spcAft>
              <a:defRPr sz="1700">
                <a:solidFill>
                  <a:srgbClr val="2B3239"/>
                </a:solidFill>
                <a:latin typeface="Inter"/>
              </a:defRPr>
            </a:pPr>
            <a:r>
              <a:t>• Assumptions in problem solving → separate known facts from assumptions and compare options.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Skills &amp;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Professional communication and active listening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Positive first-impression awareness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Team coordination and task ownership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Structured and constructive problem solving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Self-reflection and continuous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2B3239"/>
                </a:solidFill>
                <a:latin typeface="Inter"/>
              </a:defRPr>
            </a:pPr>
            <a:r>
              <a:t>• Greater confidence for academic and early-career situations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Certificate of Completion</a:t>
            </a:r>
          </a:p>
        </p:txBody>
      </p:sp>
      <p:pic>
        <p:nvPicPr>
          <p:cNvPr id="6" name="Picture 5" descr="forage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417320"/>
            <a:ext cx="822960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557566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Poppins"/>
              </a:rPr>
              <a:t>Future Scope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3035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9377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Add conflict-resolution and meeting scenarios; use peer/mentor rubrics; track repeated attempts; combine professional-skills practice with technical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oppins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04288"/>
            <a:ext cx="49377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B3239"/>
                </a:solidFill>
                <a:latin typeface="Inter"/>
              </a:rPr>
              <a:t>The simulation strengthened practical communication, teamwork and problem-solving behaviours. These skills complement technical education and support readiness for future academic and professional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554480"/>
            <a:ext cx="630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  <a:latin typeface="Poppin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43200"/>
            <a:ext cx="6675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B3239"/>
                </a:solidFill>
                <a:latin typeface="Inter"/>
              </a:defRPr>
            </a:pPr>
            <a:r>
              <a:t>Gaurav Mishra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B3239"/>
                </a:solidFill>
                <a:latin typeface="Inter"/>
              </a:defRPr>
            </a:pPr>
            <a:r>
              <a:t>Roll No: 25SCS1003000831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B3239"/>
                </a:solidFill>
                <a:latin typeface="Inter"/>
              </a:defRPr>
            </a:pPr>
            <a:r>
              <a:t>School of Computer Science &amp; Engineering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2B3239"/>
                </a:solidFill>
                <a:latin typeface="Inter"/>
              </a:defRPr>
            </a:pPr>
            <a:r>
              <a:t>IILM University, Greater Noida, U.P.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800600"/>
            <a:ext cx="772015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